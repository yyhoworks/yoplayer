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 IDENTITY · 2026.10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YoPlayer 品牌视觉识别手册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标志应用规范 · 矢量化正式版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本版起采用单一品牌标志:Y 形负空间播放标。全部图形为 SVG 矢量源稿(任意尺寸无损),配套高清 PNG 与应用图标;浅底场景使用冷墨蓝 #1F2933。</a:t>
            </a:r>
            <a:endParaRPr lang="en-US" sz="1250" dirty="0"/>
          </a:p>
        </p:txBody>
      </p:sp>
      <p:pic>
        <p:nvPicPr>
          <p:cNvPr id="5" name="Image 0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160520"/>
            <a:ext cx="1409776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870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 形负空间播放标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YOPLAYER VISUAL IDENTITY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v3.3 · VECTOR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标志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 形负空间播放标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以三角播放轮廓承载 Y 形留白,播放语义直接,小尺寸下结构稳定。图形与字标共用单色规范;矢量源稿由评审稿 1:1 描摹重建。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109960" cy="3931920"/>
          </a:xfrm>
          <a:prstGeom prst="roundRect">
            <a:avLst>
              <a:gd name="adj" fmla="val 2093"/>
            </a:avLst>
          </a:prstGeom>
          <a:solidFill>
            <a:srgbClr val="1D1D1F"/>
          </a:solidFill>
          <a:ln/>
        </p:spPr>
      </p:sp>
      <p:pic>
        <p:nvPicPr>
          <p:cNvPr id="6" name="Image 0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6916" y="2743200"/>
            <a:ext cx="1933407" cy="2194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1663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播放轮廓 × Y 形留白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矢量源稿 · 高清 PNG 1600px · 浅底冷墨蓝版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标志组合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横版与竖版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横版适合播放器入口与标题栏,竖版适合启动页与窄幅展示。字标 Montserrat Bold 轮廓化;间距按图形高度 X 锁定:横版 0.22X、字标字高 0.31X,竖版 0.12X。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109960" cy="1554480"/>
          </a:xfrm>
          <a:prstGeom prst="roundRect">
            <a:avLst>
              <a:gd name="adj" fmla="val 5294"/>
            </a:avLst>
          </a:prstGeom>
          <a:solidFill>
            <a:srgbClr val="1D1D1F"/>
          </a:solidFill>
          <a:ln/>
        </p:spPr>
      </p:sp>
      <p:pic>
        <p:nvPicPr>
          <p:cNvPr id="6" name="Image 0" descr="/sessions/dazzling-stoic-cori/mnt/YoPlayer/docs/vi/logo/yoplayer-lockup-b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2297978"/>
            <a:ext cx="3931920" cy="12562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886200"/>
            <a:ext cx="5440680" cy="2514600"/>
          </a:xfrm>
          <a:prstGeom prst="roundRect">
            <a:avLst>
              <a:gd name="adj" fmla="val 3273"/>
            </a:avLst>
          </a:prstGeom>
          <a:solidFill>
            <a:srgbClr val="1D1D1F"/>
          </a:solidFill>
          <a:ln/>
        </p:spPr>
      </p:sp>
      <p:pic>
        <p:nvPicPr>
          <p:cNvPr id="8" name="Image 1" descr="/sessions/dazzling-stoic-cori/mnt/YoPlayer/docs/vi/logo/yoplayer-lockup-b-vert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96" y="4137660"/>
            <a:ext cx="2061167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3886200"/>
            <a:ext cx="5440680" cy="2514600"/>
          </a:xfrm>
          <a:prstGeom prst="roundRect">
            <a:avLst>
              <a:gd name="adj" fmla="val 3273"/>
            </a:avLst>
          </a:prstGeom>
          <a:solidFill>
            <a:srgbClr val="F0F2F5"/>
          </a:solidFill>
          <a:ln/>
        </p:spPr>
      </p:sp>
      <p:pic>
        <p:nvPicPr>
          <p:cNvPr id="10" name="Image 2" descr="/sessions/dazzling-stoic-cori/mnt/YoPlayer/docs/vi/logo/yoplayer-lockup-b-horizontal-in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4509701"/>
            <a:ext cx="3108960" cy="9932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5943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浅底版 · 冷墨蓝 #1F2933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留白与尺寸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净空与最小尺寸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四周净空 ≥ X,X = 图形最窄实色笔画宽度。净空内不出现文字、图形或界面边缘。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760720" cy="4114800"/>
          </a:xfrm>
          <a:prstGeom prst="roundRect">
            <a:avLst>
              <a:gd name="adj" fmla="val 2000"/>
            </a:avLst>
          </a:prstGeom>
          <a:solidFill>
            <a:srgbClr val="1D1D1F"/>
          </a:solidFill>
          <a:ln/>
        </p:spPr>
      </p:sp>
      <p:sp>
        <p:nvSpPr>
          <p:cNvPr id="6" name="Shape 4"/>
          <p:cNvSpPr/>
          <p:nvPr/>
        </p:nvSpPr>
        <p:spPr>
          <a:xfrm>
            <a:off x="2252213" y="2880360"/>
            <a:ext cx="2353574" cy="2560320"/>
          </a:xfrm>
          <a:prstGeom prst="rect">
            <a:avLst/>
          </a:prstGeom>
          <a:ln w="15875">
            <a:solidFill>
              <a:srgbClr val="56565C"/>
            </a:solidFill>
            <a:prstDash val="dash"/>
          </a:ln>
        </p:spPr>
      </p:sp>
      <p:pic>
        <p:nvPicPr>
          <p:cNvPr id="7" name="Image 0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3693" y="3291840"/>
            <a:ext cx="1530614" cy="1737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69795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886453" y="5349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 = 净空边界(示意,X 以矢量源稿实际最窄笔画量取)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7960" y="224028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1D1D1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屏幕端最小尺寸</a:t>
            </a:r>
            <a:endParaRPr lang="en-US" sz="1450" dirty="0"/>
          </a:p>
        </p:txBody>
      </p:sp>
      <p:pic>
        <p:nvPicPr>
          <p:cNvPr id="13" name="Image 1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919472"/>
            <a:ext cx="499464" cy="5669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px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5870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屏幕端图形下限</a:t>
            </a:r>
            <a:endParaRPr lang="en-US" sz="900" dirty="0"/>
          </a:p>
        </p:txBody>
      </p:sp>
      <p:pic>
        <p:nvPicPr>
          <p:cNvPr id="16" name="Image 2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102352"/>
            <a:ext cx="338346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px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5870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电视主导航推荐</a:t>
            </a:r>
            <a:endParaRPr lang="en-US" sz="900" dirty="0"/>
          </a:p>
        </p:txBody>
      </p:sp>
      <p:pic>
        <p:nvPicPr>
          <p:cNvPr id="19" name="Image 3" descr="/sessions/dazzling-stoic-cori/mnt/YoPlayer/docs/vi/logo/yoplayer-mark-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5202936"/>
            <a:ext cx="249732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4692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px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9464040" y="5870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B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小于 24 px 需实机检查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6144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应用图标与紧凑导航场景,避免笔画粘连或 Y 形负空间闭合。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品牌色板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单色层级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标志和播放器共用同一套单色层级,不另加蓝色或渐变强调。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109960" cy="4206240"/>
          </a:xfrm>
          <a:prstGeom prst="roundRect">
            <a:avLst>
              <a:gd name="adj" fmla="val 1957"/>
            </a:avLst>
          </a:prstGeom>
          <a:solidFill>
            <a:srgbClr val="1D1D1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50592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#000000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全屏画布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395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界面最底层;海报墙与播放页的基底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866644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26080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1D1D1F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91640" y="28712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8712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#1D1D1F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871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列表与内容面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871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卡片、列表行、对话框底板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342132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01568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2C2C2E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3346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浮起灰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3346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#2C2C2E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346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按钮与当前操作行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3467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按钮、选中行、可交互控件底色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817620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877056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56565C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分隔灰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#56565C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细分隔与轨道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分割线、进度条轨道、滚动条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4293108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352544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999999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9164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弱化灰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#999999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低优先级文字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297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第三级信息、占位提示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" y="4768596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4828032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B5B5BB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91640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次文字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08960" y="4773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#B5B5BB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773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说明与次要信息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773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元信息、简介、次要标签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68680" y="5244084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42" name="Shape 40"/>
          <p:cNvSpPr/>
          <p:nvPr/>
        </p:nvSpPr>
        <p:spPr>
          <a:xfrm>
            <a:off x="868680" y="5303520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F5F5F7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91640" y="5248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标志白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08960" y="5248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#F5F5F7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52486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图形与主文字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040880" y="5248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标志、标题、主要文字与图标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68680" y="5719572"/>
            <a:ext cx="1046988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48" name="Shape 46"/>
          <p:cNvSpPr/>
          <p:nvPr/>
        </p:nvSpPr>
        <p:spPr>
          <a:xfrm>
            <a:off x="868680" y="5779008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3A3A4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691640" y="5724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焦点白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08960" y="5724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0" y="5724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选中轮廓与焦点态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040880" y="5724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仅用于焦点描边与焦点态,不作正文色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浅底标志色:冷墨蓝 #1F2933,仅用于浅色背景上的标志与字标。功能色例外(评分星、错误提示等语义色)如需保留,应在界面规范中单独登记,不进入品牌色板。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字体系统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中文与西文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中文界面用 FZ 兰亭黑(现有产品字库,缺字时用微软雅黑);英文与数字用 Roboto。字标 "YoPlayer" 为定制轮廓(Montserrat Bold 字形),不作排版字体使用。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109960" cy="3977640"/>
          </a:xfrm>
          <a:prstGeom prst="roundRect">
            <a:avLst>
              <a:gd name="adj" fmla="val 2069"/>
            </a:avLst>
          </a:prstGeom>
          <a:solidFill>
            <a:srgbClr val="1D1D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标题 44–48 px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51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沙丘:第二部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14400" y="3515868"/>
            <a:ext cx="1042416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 24–28 px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520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继续观看 · 最近添加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384548"/>
            <a:ext cx="1042416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89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元信息 18–20 px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3891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· 评分 8.2 · 2160p HDR10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5253228"/>
            <a:ext cx="10424160" cy="9144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257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LATIN / Roboto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5257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PLAYER 4K   00:32:18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图形与界面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三条界面原则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5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图形单色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标志用近白 #F5F5F7,深色界面提供稳定对比;不叠加光晕或渐变。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37744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D1D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5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内容优先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标志不覆盖片名、人物和播放控制等主要信息。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D1D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4964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5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状态区分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749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焦点仍由纯白轮廓表达,品牌标志不承担选中状态。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影像方向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内容先于装饰</a:t>
            </a:r>
            <a:endParaRPr lang="en-US" sz="3200" dirty="0"/>
          </a:p>
        </p:txBody>
      </p:sp>
      <p:pic>
        <p:nvPicPr>
          <p:cNvPr id="4" name="Image 0" descr="/sessions/dazzling-stoic-cori/mnt/YoPlayer/docs/vi/logo/../assets/still-play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6766560" cy="26298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0552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影像示例 · 静帧保留原色,界面元素退到明暗底层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35240" y="1965960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1D1D1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剧照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选择情绪明确、主体可辨的电影静帧。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3447288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1D1D1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55280" y="3630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0142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标题与元信息落在低细节区域,避免遮挡人脸和片名。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4928616"/>
            <a:ext cx="4023360" cy="1298448"/>
          </a:xfrm>
          <a:prstGeom prst="roundRect">
            <a:avLst>
              <a:gd name="adj" fmla="val 6338"/>
            </a:avLst>
          </a:prstGeom>
          <a:solidFill>
            <a:srgbClr val="1D1D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51114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色调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549554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保留内容本身的色彩,界面层降低对比度与面积。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应用示意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电视首页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深色导航中用近白标志;焦点只由白色轮廓提示(导航选中态为反白)。</a:t>
            </a:r>
            <a:endParaRPr lang="en-US" sz="1300" dirty="0"/>
          </a:p>
        </p:txBody>
      </p:sp>
      <p:pic>
        <p:nvPicPr>
          <p:cNvPr id="5" name="Image 0" descr="/sessions/dazzling-stoic-cori/mnt/outputs/pptx_assets/mock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016" y="2011680"/>
            <a:ext cx="864366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应用示意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控制图标保持近白;焦点用白色轮廓区分,进度条沿用单色层级(标志白填充 / 分隔灰轨道)。</a:t>
            </a:r>
            <a:endParaRPr lang="en-US" sz="1300" dirty="0"/>
          </a:p>
        </p:txBody>
      </p:sp>
      <p:pic>
        <p:nvPicPr>
          <p:cNvPr id="5" name="Image 0" descr="/sessions/dazzling-stoic-cori/mnt/outputs/pptx_assets/mock_p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016" y="2011680"/>
            <a:ext cx="864366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启动与应用图标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独立图形的使用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应用图标中图形独立使用,留足圆角安全区;启动画面用竖版组合,横版组合可用于宽幅启动页。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D1D1F"/>
          </a:solidFill>
          <a:ln/>
        </p:spPr>
      </p:sp>
      <p:pic>
        <p:nvPicPr>
          <p:cNvPr id="6" name="Image 0" descr="/sessions/dazzling-stoic-cori/mnt/YoPlayer/docs/vi/logo/yoplayer-icon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274320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应用图标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3892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 · PNG 1024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D1D1F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0" y="2606040"/>
            <a:ext cx="1874520" cy="3291840"/>
          </a:xfrm>
          <a:prstGeom prst="roundRect">
            <a:avLst>
              <a:gd name="adj" fmla="val 8780"/>
            </a:avLst>
          </a:prstGeom>
          <a:solidFill>
            <a:srgbClr val="000000"/>
          </a:solidFill>
          <a:ln w="12700">
            <a:solidFill>
              <a:srgbClr val="2C2C2E"/>
            </a:solidFill>
            <a:prstDash val="solid"/>
          </a:ln>
        </p:spPr>
      </p:sp>
      <p:pic>
        <p:nvPicPr>
          <p:cNvPr id="11" name="Image 1" descr="/sessions/dazzling-stoic-cori/mnt/YoPlayer/docs/vi/logo/yoplayer-lockup-b-vert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745" y="3520440"/>
            <a:ext cx="1499031" cy="1463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59893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启动画面 · 竖版组合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使用边界与交付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保持与避免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深色背景用标志白 #F5F5F7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浅底场景用冷墨蓝 #1F2933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焦点态只用纯白轮廓表达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净空 ≥ X,按比例缩放组合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1D1D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拉伸、旋转或改变图形结构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添加描边、阴影、渐变或新颜色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在小尺寸下压缩 Y 形留白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用品牌标志表达选中状态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109960" cy="1572768"/>
          </a:xfrm>
          <a:prstGeom prst="roundRect">
            <a:avLst>
              <a:gd name="adj" fmla="val 5233"/>
            </a:avLst>
          </a:prstGeom>
          <a:solidFill>
            <a:srgbClr val="1D1D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交付文件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4223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全部矢量源稿(SVG)与高清 PNG 位于 docs/vi/logo/:标志图形、横版/竖版组合(标志白版与冷墨蓝浅底版)、应用图标 1024px。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5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矢量稿已替代 v3.3 的截图级 PNG;字标 Montserrat Bold 轮廓化,不依赖字体安装。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5656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YOPLAYER VISUAL IDENTITY · v3.3 VECTOR EDITION · 2026.10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YoPlayer 品牌视觉识别手册 v3.3</dc:title>
  <dc:subject>PptxGenJS Presentation</dc:subject>
  <dc:creator>PptxGenJS</dc:creator>
  <cp:lastModifiedBy>PptxGenJS</cp:lastModifiedBy>
  <cp:revision>1</cp:revision>
  <dcterms:created xsi:type="dcterms:W3CDTF">2026-10-06T08:42:42Z</dcterms:created>
  <dcterms:modified xsi:type="dcterms:W3CDTF">2026-10-06T08:42:42Z</dcterms:modified>
</cp:coreProperties>
</file>